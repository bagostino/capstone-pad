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459739" y="2655746"/>
            <a:ext cx="110642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CADCFC"/>
                </a:solidFill>
              </a:defRPr>
            </a:lvl1pPr>
          </a:lstStyle>
          <a:p>
            <a:pPr/>
            <a:r>
              <a:t>CAPSTONE PROJECT  ·  APPLIED PYTHON FOR DATA ANALYSIS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459739" y="3053080"/>
            <a:ext cx="1106424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Driving FY 2026 Revenue Growth</a:t>
            </a:r>
          </a:p>
        </p:txBody>
      </p:sp>
      <p:sp>
        <p:nvSpPr>
          <p:cNvPr id="22" name="Text 0"/>
          <p:cNvSpPr txBox="1"/>
          <p:nvPr/>
        </p:nvSpPr>
        <p:spPr>
          <a:xfrm>
            <a:off x="459739" y="3810044"/>
            <a:ext cx="11064242" cy="27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763" sz="2100">
                <a:solidFill>
                  <a:srgbClr val="CADCFC"/>
                </a:solidFill>
              </a:defRPr>
            </a:lvl1pPr>
          </a:lstStyle>
          <a:p>
            <a:pPr/>
            <a:r>
              <a:t>Brittany Agostino  ·  May 20th, 2026</a:t>
            </a:r>
          </a:p>
        </p:txBody>
      </p:sp>
      <p:sp>
        <p:nvSpPr>
          <p:cNvPr id="23" name="Text 0"/>
          <p:cNvSpPr txBox="1"/>
          <p:nvPr/>
        </p:nvSpPr>
        <p:spPr>
          <a:xfrm>
            <a:off x="459739" y="4457744"/>
            <a:ext cx="11064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63" sz="1000">
                <a:solidFill>
                  <a:srgbClr val="F3FCF7"/>
                </a:solidFill>
              </a:defRPr>
            </a:lvl1pPr>
          </a:lstStyle>
          <a:p>
            <a:pPr/>
            <a:r>
              <a:t>* ppt generated with assistance of Claude Cowork when prompted with key takeaways and select screenshots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 txBox="1"/>
          <p:nvPr/>
        </p:nvSpPr>
        <p:spPr>
          <a:xfrm>
            <a:off x="548639" y="458646"/>
            <a:ext cx="110642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CADCFC"/>
                </a:solidFill>
              </a:defRPr>
            </a:lvl1pPr>
          </a:lstStyle>
          <a:p>
            <a:pPr/>
            <a:r>
              <a:t>CAPSTONE PROJECT  ·  APPLIED PYTHON FOR DATA ANALYSIS</a:t>
            </a:r>
          </a:p>
        </p:txBody>
      </p:sp>
      <p:sp>
        <p:nvSpPr>
          <p:cNvPr id="26" name="Text 1"/>
          <p:cNvSpPr txBox="1"/>
          <p:nvPr/>
        </p:nvSpPr>
        <p:spPr>
          <a:xfrm>
            <a:off x="548639" y="855980"/>
            <a:ext cx="1106424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Driving FY 2026 Revenue Growth</a:t>
            </a:r>
          </a:p>
        </p:txBody>
      </p:sp>
      <p:sp>
        <p:nvSpPr>
          <p:cNvPr id="27" name="Shape 2"/>
          <p:cNvSpPr/>
          <p:nvPr/>
        </p:nvSpPr>
        <p:spPr>
          <a:xfrm>
            <a:off x="548639" y="1600200"/>
            <a:ext cx="6583682" cy="4846321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3"/>
          <p:cNvSpPr/>
          <p:nvPr/>
        </p:nvSpPr>
        <p:spPr>
          <a:xfrm>
            <a:off x="548640" y="1600200"/>
            <a:ext cx="73153" cy="4846321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4"/>
          <p:cNvSpPr txBox="1"/>
          <p:nvPr/>
        </p:nvSpPr>
        <p:spPr>
          <a:xfrm>
            <a:off x="777239" y="1805984"/>
            <a:ext cx="6263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F96167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30" name="Text 5"/>
          <p:cNvSpPr txBox="1"/>
          <p:nvPr/>
        </p:nvSpPr>
        <p:spPr>
          <a:xfrm>
            <a:off x="777239" y="2375338"/>
            <a:ext cx="626364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E293B"/>
                </a:solidFill>
              </a:defRPr>
            </a:lvl1pPr>
          </a:lstStyle>
          <a:p>
            <a:pPr/>
            <a:r>
              <a:t>As a data analyst for an e-commerce company, I analyzed one year of transaction data to identify the top three factors driving revenue and inform the company's FY 2026 growth plan.</a:t>
            </a:r>
          </a:p>
        </p:txBody>
      </p:sp>
      <p:sp>
        <p:nvSpPr>
          <p:cNvPr id="31" name="Text 6"/>
          <p:cNvSpPr txBox="1"/>
          <p:nvPr/>
        </p:nvSpPr>
        <p:spPr>
          <a:xfrm>
            <a:off x="777239" y="3223304"/>
            <a:ext cx="6263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F96167"/>
                </a:solidFill>
              </a:defRPr>
            </a:lvl1pPr>
          </a:lstStyle>
          <a:p>
            <a:pPr/>
            <a:r>
              <a:t>THREE WORKSTREAMS</a:t>
            </a:r>
          </a:p>
        </p:txBody>
      </p:sp>
      <p:sp>
        <p:nvSpPr>
          <p:cNvPr id="32" name="Text 7"/>
          <p:cNvSpPr txBox="1"/>
          <p:nvPr/>
        </p:nvSpPr>
        <p:spPr>
          <a:xfrm>
            <a:off x="777239" y="4115869"/>
            <a:ext cx="6263642" cy="1515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200">
                <a:solidFill>
                  <a:srgbClr val="1E2761"/>
                </a:solidFill>
              </a:defRPr>
            </a:pPr>
            <a:r>
              <a:t>1.  </a:t>
            </a:r>
            <a:r>
              <a:rPr b="0">
                <a:solidFill>
                  <a:srgbClr val="1E293B"/>
                </a:solidFill>
              </a:rPr>
              <a:t>Quantify the variables most strongly correlated with revenue (weekend sales, product category, marketing channel).</a:t>
            </a:r>
          </a:p>
          <a:p>
            <a:pPr>
              <a:spcBef>
                <a:spcPts val="400"/>
              </a:spcBef>
              <a:defRPr sz="600">
                <a:solidFill>
                  <a:srgbClr val="1E293B"/>
                </a:solidFill>
              </a:defRPr>
            </a:pPr>
            <a:r>
              <a:t> </a:t>
            </a:r>
            <a:endParaRPr sz="1200"/>
          </a:p>
          <a:p>
            <a:pPr>
              <a:spcBef>
                <a:spcPts val="400"/>
              </a:spcBef>
              <a:defRPr b="1" sz="1200">
                <a:solidFill>
                  <a:srgbClr val="1E2761"/>
                </a:solidFill>
              </a:defRPr>
            </a:pPr>
            <a:r>
              <a:t>2.  </a:t>
            </a:r>
            <a:r>
              <a:rPr b="0">
                <a:solidFill>
                  <a:srgbClr val="1E293B"/>
                </a:solidFill>
              </a:rPr>
              <a:t>Segment customers to determine how much to invest in VIPs based on their impact on profitability.</a:t>
            </a:r>
          </a:p>
          <a:p>
            <a:pPr>
              <a:spcBef>
                <a:spcPts val="400"/>
              </a:spcBef>
              <a:defRPr sz="600">
                <a:solidFill>
                  <a:srgbClr val="1E293B"/>
                </a:solidFill>
              </a:defRPr>
            </a:pPr>
            <a:r>
              <a:t> </a:t>
            </a:r>
            <a:endParaRPr sz="1200"/>
          </a:p>
          <a:p>
            <a:pPr>
              <a:spcBef>
                <a:spcPts val="400"/>
              </a:spcBef>
              <a:defRPr b="1" sz="1200">
                <a:solidFill>
                  <a:srgbClr val="1E2761"/>
                </a:solidFill>
              </a:defRPr>
            </a:pPr>
            <a:r>
              <a:t>3.  </a:t>
            </a:r>
            <a:r>
              <a:rPr b="0">
                <a:solidFill>
                  <a:srgbClr val="1E293B"/>
                </a:solidFill>
              </a:rPr>
              <a:t>Evaluate whether the current pricing strategy and discount practice help or hurt overall revenue and sales volume.</a:t>
            </a:r>
          </a:p>
        </p:txBody>
      </p:sp>
      <p:sp>
        <p:nvSpPr>
          <p:cNvPr id="33" name="Shape 8"/>
          <p:cNvSpPr/>
          <p:nvPr/>
        </p:nvSpPr>
        <p:spPr>
          <a:xfrm>
            <a:off x="7406640" y="1600200"/>
            <a:ext cx="4206241" cy="2194561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9"/>
          <p:cNvSpPr/>
          <p:nvPr/>
        </p:nvSpPr>
        <p:spPr>
          <a:xfrm>
            <a:off x="7406640" y="1600200"/>
            <a:ext cx="73153" cy="2194561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10"/>
          <p:cNvSpPr txBox="1"/>
          <p:nvPr/>
        </p:nvSpPr>
        <p:spPr>
          <a:xfrm>
            <a:off x="7635240" y="1805984"/>
            <a:ext cx="3886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1E2761"/>
                </a:solidFill>
              </a:defRPr>
            </a:lvl1pPr>
          </a:lstStyle>
          <a:p>
            <a:pPr/>
            <a:r>
              <a:t>AUDIENCE</a:t>
            </a:r>
          </a:p>
        </p:txBody>
      </p:sp>
      <p:sp>
        <p:nvSpPr>
          <p:cNvPr id="36" name="Text 11"/>
          <p:cNvSpPr txBox="1"/>
          <p:nvPr/>
        </p:nvSpPr>
        <p:spPr>
          <a:xfrm>
            <a:off x="7635240" y="2385499"/>
            <a:ext cx="3886201" cy="1081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E2761"/>
                </a:solidFill>
              </a:defRPr>
            </a:pPr>
            <a:r>
              <a:t>CFO</a:t>
            </a:r>
          </a:p>
          <a:p>
            <a:pPr>
              <a:defRPr b="1" sz="1300">
                <a:solidFill>
                  <a:srgbClr val="1E2761"/>
                </a:solidFill>
              </a:defRPr>
            </a:pPr>
            <a:r>
              <a:t>CMO</a:t>
            </a:r>
          </a:p>
          <a:p>
            <a:pPr>
              <a:defRPr b="1" sz="1300">
                <a:solidFill>
                  <a:srgbClr val="1E2761"/>
                </a:solidFill>
              </a:defRPr>
            </a:pPr>
            <a:r>
              <a:t>Head of Sales</a:t>
            </a:r>
          </a:p>
          <a:p>
            <a:pPr>
              <a:defRPr sz="600">
                <a:solidFill>
                  <a:srgbClr val="1E293B"/>
                </a:solidFill>
              </a:defRPr>
            </a:pPr>
            <a:r>
              <a:t> </a:t>
            </a:r>
            <a:endParaRPr sz="1300"/>
          </a:p>
          <a:p>
            <a:pPr>
              <a:defRPr i="1" sz="1300">
                <a:solidFill>
                  <a:srgbClr val="64748B"/>
                </a:solidFill>
              </a:defRPr>
            </a:pPr>
            <a:r>
              <a:t>Findings will inform FY 2026 marketing and pricing strategy.</a:t>
            </a:r>
          </a:p>
        </p:txBody>
      </p:sp>
      <p:sp>
        <p:nvSpPr>
          <p:cNvPr id="37" name="Shape 12"/>
          <p:cNvSpPr/>
          <p:nvPr/>
        </p:nvSpPr>
        <p:spPr>
          <a:xfrm>
            <a:off x="7406640" y="3886200"/>
            <a:ext cx="4206241" cy="2560321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3"/>
          <p:cNvSpPr txBox="1"/>
          <p:nvPr/>
        </p:nvSpPr>
        <p:spPr>
          <a:xfrm>
            <a:off x="7635240" y="4091984"/>
            <a:ext cx="3886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FFFFFF"/>
                </a:solidFill>
              </a:defRPr>
            </a:lvl1pPr>
          </a:lstStyle>
          <a:p>
            <a:pPr/>
            <a:r>
              <a:t>PRIMARY QUESTION</a:t>
            </a:r>
          </a:p>
        </p:txBody>
      </p:sp>
      <p:sp>
        <p:nvSpPr>
          <p:cNvPr id="39" name="Text 14"/>
          <p:cNvSpPr txBox="1"/>
          <p:nvPr/>
        </p:nvSpPr>
        <p:spPr>
          <a:xfrm>
            <a:off x="7635240" y="4894579"/>
            <a:ext cx="388620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customer, product, and pricing levers should the company prioritize in FY 2026 to maximize revenue growth without eroding margin?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 txBox="1"/>
          <p:nvPr/>
        </p:nvSpPr>
        <p:spPr>
          <a:xfrm>
            <a:off x="548639" y="435786"/>
            <a:ext cx="110642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64748B"/>
                </a:solidFill>
              </a:defRPr>
            </a:lvl1pPr>
          </a:lstStyle>
          <a:p>
            <a:pPr/>
            <a:r>
              <a:t>WHAT THE DATA SHOWS</a:t>
            </a:r>
          </a:p>
        </p:txBody>
      </p:sp>
      <p:sp>
        <p:nvSpPr>
          <p:cNvPr id="42" name="Text 1"/>
          <p:cNvSpPr txBox="1"/>
          <p:nvPr/>
        </p:nvSpPr>
        <p:spPr>
          <a:xfrm>
            <a:off x="548639" y="737869"/>
            <a:ext cx="1106424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Evidence - Initial Findings from Visualization</a:t>
            </a:r>
          </a:p>
        </p:txBody>
      </p:sp>
      <p:sp>
        <p:nvSpPr>
          <p:cNvPr id="43" name="Text 2"/>
          <p:cNvSpPr txBox="1"/>
          <p:nvPr/>
        </p:nvSpPr>
        <p:spPr>
          <a:xfrm>
            <a:off x="548639" y="1459229"/>
            <a:ext cx="55778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Correlation Matrix: All Variables vs. Revenue</a:t>
            </a:r>
          </a:p>
        </p:txBody>
      </p:sp>
      <p:pic>
        <p:nvPicPr>
          <p:cNvPr id="4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0" t="0" r="2110" b="4221"/>
          <a:stretch>
            <a:fillRect/>
          </a:stretch>
        </p:blipFill>
        <p:spPr>
          <a:xfrm>
            <a:off x="578114" y="1783079"/>
            <a:ext cx="5700767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Text 3"/>
          <p:cNvSpPr txBox="1"/>
          <p:nvPr/>
        </p:nvSpPr>
        <p:spPr>
          <a:xfrm>
            <a:off x="548639" y="5802805"/>
            <a:ext cx="5577842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E2761"/>
                </a:solidFill>
              </a:defRPr>
            </a:pPr>
            <a:r>
              <a:rPr b="0">
                <a:solidFill>
                  <a:srgbClr val="1E293B"/>
                </a:solidFill>
              </a:rPr>
              <a:t>Product price (0.73) and quantity (0.66) are the strongest revenue drivers. Discount status is negatively correlated (−0.17). </a:t>
            </a:r>
            <a:r>
              <a:rPr>
                <a:solidFill>
                  <a:srgbClr val="F96167"/>
                </a:solidFill>
              </a:rPr>
              <a:t>VIP status correlates 0.00 with revenue. VIP then was discounted once I ran t test.</a:t>
            </a:r>
          </a:p>
        </p:txBody>
      </p:sp>
      <p:sp>
        <p:nvSpPr>
          <p:cNvPr id="46" name="Text 4"/>
          <p:cNvSpPr txBox="1"/>
          <p:nvPr/>
        </p:nvSpPr>
        <p:spPr>
          <a:xfrm>
            <a:off x="6400799" y="1459229"/>
            <a:ext cx="55778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Revenue Distribution: Discounted vs. Non-Discounted</a:t>
            </a:r>
          </a:p>
        </p:txBody>
      </p:sp>
      <p:pic>
        <p:nvPicPr>
          <p:cNvPr id="4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0800" y="1783079"/>
            <a:ext cx="5701110" cy="3738434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ext 5"/>
          <p:cNvSpPr txBox="1"/>
          <p:nvPr/>
        </p:nvSpPr>
        <p:spPr>
          <a:xfrm>
            <a:off x="6400799" y="5885355"/>
            <a:ext cx="557784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E2761"/>
                </a:solidFill>
              </a:defRPr>
            </a:pPr>
            <a:r>
              <a:rPr b="0">
                <a:solidFill>
                  <a:srgbClr val="1E293B"/>
                </a:solidFill>
              </a:rPr>
              <a:t>Discounted transactions (n=334) skew toward lower revenue than non-discounted transactions (n=166). </a:t>
            </a:r>
            <a:r>
              <a:rPr>
                <a:solidFill>
                  <a:srgbClr val="F96167"/>
                </a:solidFill>
              </a:rPr>
              <a:t>Confirmed by t-test (p = 0.0004).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 txBox="1"/>
          <p:nvPr/>
        </p:nvSpPr>
        <p:spPr>
          <a:xfrm>
            <a:off x="548639" y="390066"/>
            <a:ext cx="110642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CADCFC"/>
                </a:solidFill>
              </a:defRPr>
            </a:lvl1pPr>
          </a:lstStyle>
          <a:p>
            <a:pPr/>
            <a:r>
              <a:t>FOR FY 2026 PLANNING</a:t>
            </a:r>
          </a:p>
        </p:txBody>
      </p:sp>
      <p:sp>
        <p:nvSpPr>
          <p:cNvPr id="51" name="Text 1"/>
          <p:cNvSpPr txBox="1"/>
          <p:nvPr/>
        </p:nvSpPr>
        <p:spPr>
          <a:xfrm>
            <a:off x="548639" y="711200"/>
            <a:ext cx="110642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Insights &amp; Recommendations</a:t>
            </a:r>
          </a:p>
        </p:txBody>
      </p:sp>
      <p:sp>
        <p:nvSpPr>
          <p:cNvPr id="52" name="Shape 2"/>
          <p:cNvSpPr/>
          <p:nvPr/>
        </p:nvSpPr>
        <p:spPr>
          <a:xfrm>
            <a:off x="548639" y="1417319"/>
            <a:ext cx="5577842" cy="246888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3"/>
          <p:cNvSpPr/>
          <p:nvPr/>
        </p:nvSpPr>
        <p:spPr>
          <a:xfrm>
            <a:off x="548640" y="1417319"/>
            <a:ext cx="73153" cy="246888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4"/>
          <p:cNvSpPr txBox="1"/>
          <p:nvPr/>
        </p:nvSpPr>
        <p:spPr>
          <a:xfrm>
            <a:off x="777240" y="1640639"/>
            <a:ext cx="457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96167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5" name="Text 5"/>
          <p:cNvSpPr txBox="1"/>
          <p:nvPr/>
        </p:nvSpPr>
        <p:spPr>
          <a:xfrm>
            <a:off x="777240" y="1910079"/>
            <a:ext cx="52120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Discounts are destroying revenue</a:t>
            </a:r>
          </a:p>
        </p:txBody>
      </p:sp>
      <p:sp>
        <p:nvSpPr>
          <p:cNvPr id="56" name="Text 6"/>
          <p:cNvSpPr txBox="1"/>
          <p:nvPr/>
        </p:nvSpPr>
        <p:spPr>
          <a:xfrm>
            <a:off x="777240" y="2477814"/>
            <a:ext cx="52120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INSIGHT  </a:t>
            </a:r>
            <a:r>
              <a:rPr b="0" sz="1000">
                <a:solidFill>
                  <a:srgbClr val="1E293B"/>
                </a:solidFill>
              </a:rPr>
              <a:t>67% of transactions are discounted, reducing per-transaction revenue by 23% ($912 vs. $698). Statistically significant (t-test p = 0.0004) and reinforced by correlation (−0.17).</a:t>
            </a:r>
          </a:p>
        </p:txBody>
      </p:sp>
      <p:sp>
        <p:nvSpPr>
          <p:cNvPr id="57" name="Text 7"/>
          <p:cNvSpPr txBox="1"/>
          <p:nvPr/>
        </p:nvSpPr>
        <p:spPr>
          <a:xfrm>
            <a:off x="777240" y="3172504"/>
            <a:ext cx="5212080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F96167"/>
                </a:solidFill>
              </a:defRPr>
            </a:pPr>
            <a:r>
              <a:t>RECOMMENDATION  </a:t>
            </a:r>
            <a:r>
              <a:rPr b="0" sz="1000">
                <a:solidFill>
                  <a:srgbClr val="1E293B"/>
                </a:solidFill>
              </a:rPr>
              <a:t>CFO should test cutting discount frequency significantly (e.g., from 67% to ~30%), starting with target markets before full rollout. Discounting has become default behavior rather than strategic.</a:t>
            </a:r>
          </a:p>
        </p:txBody>
      </p:sp>
      <p:sp>
        <p:nvSpPr>
          <p:cNvPr id="58" name="Shape 8"/>
          <p:cNvSpPr/>
          <p:nvPr/>
        </p:nvSpPr>
        <p:spPr>
          <a:xfrm>
            <a:off x="6400799" y="1417319"/>
            <a:ext cx="5577842" cy="246888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9"/>
          <p:cNvSpPr/>
          <p:nvPr/>
        </p:nvSpPr>
        <p:spPr>
          <a:xfrm>
            <a:off x="6400799" y="1417319"/>
            <a:ext cx="73154" cy="246888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10"/>
          <p:cNvSpPr txBox="1"/>
          <p:nvPr/>
        </p:nvSpPr>
        <p:spPr>
          <a:xfrm>
            <a:off x="6629400" y="1640639"/>
            <a:ext cx="457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761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1" name="Text 11"/>
          <p:cNvSpPr txBox="1"/>
          <p:nvPr/>
        </p:nvSpPr>
        <p:spPr>
          <a:xfrm>
            <a:off x="6629400" y="1910079"/>
            <a:ext cx="52120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VIPs aren't behaviorally differentiated</a:t>
            </a:r>
          </a:p>
        </p:txBody>
      </p:sp>
      <p:sp>
        <p:nvSpPr>
          <p:cNvPr id="62" name="Text 12"/>
          <p:cNvSpPr txBox="1"/>
          <p:nvPr/>
        </p:nvSpPr>
        <p:spPr>
          <a:xfrm>
            <a:off x="6629400" y="2395264"/>
            <a:ext cx="5212080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INSIGHT  </a:t>
            </a:r>
            <a:r>
              <a:rPr b="0" sz="1000">
                <a:solidFill>
                  <a:srgbClr val="1E293B"/>
                </a:solidFill>
              </a:rPr>
              <a:t>Two t-tests (p = 0.99) confirmed VIPs do not spend more per transaction OR purchase more often. They average 1.08 transactions/year vs. 1.06 for non-VIPs, with near-identical annual revenue ($816 vs. $814).</a:t>
            </a:r>
          </a:p>
        </p:txBody>
      </p:sp>
      <p:sp>
        <p:nvSpPr>
          <p:cNvPr id="63" name="Text 13"/>
          <p:cNvSpPr txBox="1"/>
          <p:nvPr/>
        </p:nvSpPr>
        <p:spPr>
          <a:xfrm>
            <a:off x="6629400" y="3172504"/>
            <a:ext cx="5212080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F96167"/>
                </a:solidFill>
              </a:defRPr>
            </a:pPr>
            <a:r>
              <a:t>RECOMMENDATION  </a:t>
            </a:r>
            <a:r>
              <a:rPr b="0" sz="1000">
                <a:solidFill>
                  <a:srgbClr val="1E293B"/>
                </a:solidFill>
              </a:rPr>
              <a:t>Before allocating FY 2026 VIP budget, conduct market interviews and redefine VIP criteria using behavioral data. Revisit with multi-year historical data before scaling any VIP-specific program.</a:t>
            </a:r>
          </a:p>
        </p:txBody>
      </p:sp>
      <p:sp>
        <p:nvSpPr>
          <p:cNvPr id="64" name="Shape 14"/>
          <p:cNvSpPr/>
          <p:nvPr/>
        </p:nvSpPr>
        <p:spPr>
          <a:xfrm>
            <a:off x="548639" y="4114799"/>
            <a:ext cx="5577842" cy="246888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15"/>
          <p:cNvSpPr/>
          <p:nvPr/>
        </p:nvSpPr>
        <p:spPr>
          <a:xfrm>
            <a:off x="548640" y="4114799"/>
            <a:ext cx="73153" cy="246888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6"/>
          <p:cNvSpPr txBox="1"/>
          <p:nvPr/>
        </p:nvSpPr>
        <p:spPr>
          <a:xfrm>
            <a:off x="777240" y="4338119"/>
            <a:ext cx="457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761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7" name="Text 17"/>
          <p:cNvSpPr txBox="1"/>
          <p:nvPr/>
        </p:nvSpPr>
        <p:spPr>
          <a:xfrm>
            <a:off x="777240" y="4607559"/>
            <a:ext cx="52120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Marketing channel is the real lever</a:t>
            </a:r>
          </a:p>
        </p:txBody>
      </p:sp>
      <p:sp>
        <p:nvSpPr>
          <p:cNvPr id="68" name="Text 18"/>
          <p:cNvSpPr txBox="1"/>
          <p:nvPr/>
        </p:nvSpPr>
        <p:spPr>
          <a:xfrm>
            <a:off x="777240" y="5092744"/>
            <a:ext cx="5212080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INSIGHT  </a:t>
            </a:r>
            <a:r>
              <a:rPr b="0" sz="1000">
                <a:solidFill>
                  <a:srgbClr val="1E293B"/>
                </a:solidFill>
              </a:rPr>
              <a:t>Paid Search delivers the highest revenue per transaction ($846) at lowest volume; Social Media combines high value ($821) with high volume (92). Product category showed almost no variation across six categories.</a:t>
            </a:r>
          </a:p>
        </p:txBody>
      </p:sp>
      <p:sp>
        <p:nvSpPr>
          <p:cNvPr id="69" name="Text 19"/>
          <p:cNvSpPr txBox="1"/>
          <p:nvPr/>
        </p:nvSpPr>
        <p:spPr>
          <a:xfrm>
            <a:off x="777240" y="5869984"/>
            <a:ext cx="5212080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F96167"/>
                </a:solidFill>
              </a:defRPr>
            </a:pPr>
            <a:r>
              <a:t>RECOMMENDATION  </a:t>
            </a:r>
            <a:r>
              <a:rPr b="0" sz="1000">
                <a:solidFill>
                  <a:srgbClr val="1E293B"/>
                </a:solidFill>
              </a:rPr>
              <a:t>CMO should scale Paid Search (more runway) and lean into Social Media (mature, high-performing). Do not invest in product category rebalancing — the data shows no shift would matter.</a:t>
            </a:r>
          </a:p>
        </p:txBody>
      </p:sp>
      <p:sp>
        <p:nvSpPr>
          <p:cNvPr id="70" name="Shape 20"/>
          <p:cNvSpPr/>
          <p:nvPr/>
        </p:nvSpPr>
        <p:spPr>
          <a:xfrm>
            <a:off x="6400799" y="4114799"/>
            <a:ext cx="5577842" cy="246888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Shape 21"/>
          <p:cNvSpPr/>
          <p:nvPr/>
        </p:nvSpPr>
        <p:spPr>
          <a:xfrm>
            <a:off x="6400799" y="4114799"/>
            <a:ext cx="73154" cy="246888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22"/>
          <p:cNvSpPr txBox="1"/>
          <p:nvPr/>
        </p:nvSpPr>
        <p:spPr>
          <a:xfrm>
            <a:off x="6629400" y="4338119"/>
            <a:ext cx="457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761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3" name="Text 23"/>
          <p:cNvSpPr txBox="1"/>
          <p:nvPr/>
        </p:nvSpPr>
        <p:spPr>
          <a:xfrm>
            <a:off x="6629400" y="4607559"/>
            <a:ext cx="52120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Weekend timing is not a lever</a:t>
            </a:r>
          </a:p>
        </p:txBody>
      </p:sp>
      <p:sp>
        <p:nvSpPr>
          <p:cNvPr id="74" name="Text 24"/>
          <p:cNvSpPr txBox="1"/>
          <p:nvPr/>
        </p:nvSpPr>
        <p:spPr>
          <a:xfrm>
            <a:off x="6629400" y="5175294"/>
            <a:ext cx="52120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INSIGHT  </a:t>
            </a:r>
            <a:r>
              <a:rPr b="0" sz="1000">
                <a:solidFill>
                  <a:srgbClr val="1E293B"/>
                </a:solidFill>
              </a:rPr>
              <a:t>Per-transaction value is essentially identical between weekdays and weekends ($770 vs. $767). Sales were actually slightly lower on weekends, though not meaningfully.</a:t>
            </a:r>
          </a:p>
        </p:txBody>
      </p:sp>
      <p:sp>
        <p:nvSpPr>
          <p:cNvPr id="75" name="Text 25"/>
          <p:cNvSpPr txBox="1"/>
          <p:nvPr/>
        </p:nvSpPr>
        <p:spPr>
          <a:xfrm>
            <a:off x="6629400" y="5952534"/>
            <a:ext cx="52120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F96167"/>
                </a:solidFill>
              </a:defRPr>
            </a:pPr>
            <a:r>
              <a:t>RECOMMENDATION  </a:t>
            </a:r>
            <a:r>
              <a:rPr b="0" sz="1000">
                <a:solidFill>
                  <a:srgbClr val="1E293B"/>
                </a:solidFill>
              </a:rPr>
              <a:t>Do not invest in weekend-specific campaigns, promotions, or staffing changes. Calendar timing is not a meaningful FY 2026 revenue lever.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